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-914400"/>
            <a:ext cx="5486400" cy="5486400"/>
          </a:xfrm>
          <a:prstGeom prst="rect">
            <a:avLst/>
          </a:prstGeom>
          <a:solidFill>
            <a:srgbClr val="10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457200"/>
            <a:ext cx="4114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685800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BrandPulse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292608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7D2FE"/>
                </a:solidFill>
                <a:latin typeface="Calibri"/>
              </a:rPr>
              <a:t>The Brand Intelligence Platform Built for Africa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Know your brand health.  Understand your market.  Act faster.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CONFIDENTIAL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366F1"/>
                </a:solidFill>
                <a:latin typeface="Calibri"/>
              </a:rPr>
              <a:t>brandpulse.ai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Brands spend millions.
Measurement is broken.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1274552" cy="13716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356616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35661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Share of Voice ≠
Brand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Loudness is not trust.
Reach is not resonance.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971800"/>
            <a:ext cx="356616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971800"/>
            <a:ext cx="3566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200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Last-click attribution
misses 80% of the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0233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TV, OOH, word-of-mouth,
cultural moments — invisible.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971800"/>
            <a:ext cx="356616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971800"/>
            <a:ext cx="356616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African-native
brand intelligence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Global platforms ignore
local language, culture &amp;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THE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 $4.2B+ market with
no category leader.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1274552" cy="13716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65176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66F1"/>
                </a:solidFill>
                <a:latin typeface="Calibri"/>
              </a:rPr>
              <a:t>$4.2B+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77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African digital ad
spend annually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834640"/>
            <a:ext cx="265176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651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063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66F1"/>
                </a:solidFill>
                <a:latin typeface="Calibri"/>
              </a:rPr>
              <a:t>600M+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77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consumers across
West Africa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834640"/>
            <a:ext cx="265176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834640"/>
            <a:ext cx="2651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063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66F1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verticals with urgent
brand-health needs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834640"/>
            <a:ext cx="265176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2834640"/>
            <a:ext cx="2651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0632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66F1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977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African-native brand
intelligence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INTRODUCING BRANDPULSE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One number that tells you
everything about your brand.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097280"/>
            <a:ext cx="2743200" cy="274320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0" y="1097280"/>
            <a:ext cx="27432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366F1"/>
                </a:solidFill>
                <a:latin typeface="Calibri"/>
              </a:rPr>
              <a:t>BHI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78.4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Brand Health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7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Awareness to advocacy,
all in one 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29184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Live data from 11+
connected platforms.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2918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AI-Powered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Ask any brand question.
Get board-grade answers.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THE BRAND HEALTH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 Components. One 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06040" cy="1417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6060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Unaided &amp; aided 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1256" y="1920240"/>
            <a:ext cx="2606040" cy="1417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91256" y="192024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2084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5786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Top-of-mind frequency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1920240"/>
            <a:ext cx="2606040" cy="1417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25312" y="192024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2084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Sentiment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5786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Tone across channels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9368" y="1920240"/>
            <a:ext cx="2606040" cy="1417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59368" y="192024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2084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5786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How you're seen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3520440"/>
            <a:ext cx="2606040" cy="1417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57400" y="3520440"/>
            <a:ext cx="260604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6850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Cultural Resonance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1788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Local language alignment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91456" y="3520440"/>
            <a:ext cx="2606040" cy="1417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91456" y="3520440"/>
            <a:ext cx="26060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8616" y="36850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Share of Voice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8616" y="41788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Vs. competitors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25512" y="3520440"/>
            <a:ext cx="2606040" cy="1417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25512" y="3520440"/>
            <a:ext cx="26060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36850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Earned Media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417880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Unpaid reach worth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66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Weights recalibrate automatically for your industry vertical.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WHY AFRICA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Global tools weren't built
for this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64008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 Languages Tracked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Yoruba · Igbo · Hausa · Pidgin
Cultural resonance built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65176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651760"/>
            <a:ext cx="64008" cy="2560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OOH-Heavy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520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Outdoor attribution via short links
+ search uplift signals.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651760"/>
            <a:ext cx="64008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Local Payment 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Paystack &amp; Flutterwave connected.
Sales data meets brand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65176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651760"/>
            <a:ext cx="64008" cy="2560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 Incumbent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5204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No Kantar, no Sprinklr, no
brand-intelligence category winner.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858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 brand signal.
One real-time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1274552" cy="36576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112745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11274552" cy="41148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BrandPulse AI  ·  Flutterwave  ·  Brand Health Overview  ·  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46120"/>
            <a:ext cx="2560320" cy="10515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25603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319272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BHI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593592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78.4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050792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  <a:latin typeface="Calibri"/>
              </a:rPr>
              <a:t>+2.1 this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7288" y="3246120"/>
            <a:ext cx="2560320" cy="10515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47288" y="3246120"/>
            <a:ext cx="25603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016" y="3319272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3593592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4050792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Positive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3246120"/>
            <a:ext cx="2560320" cy="10515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324612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3319272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Share of 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593592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4050792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alibri"/>
              </a:rPr>
              <a:t>+4pp MoM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0264" y="3246120"/>
            <a:ext cx="2560320" cy="10515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0264" y="3246120"/>
            <a:ext cx="25603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3319272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3593592"/>
            <a:ext cx="2340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₦48.2M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4050792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  <a:latin typeface="Calibri"/>
              </a:rPr>
              <a:t>Earned this 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480560"/>
            <a:ext cx="10972800" cy="3200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Awareness  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792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Consideration  68%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Purchase  41%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Loyalty  28%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45262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Advocacy  14%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983480"/>
            <a:ext cx="10972800" cy="10972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Competitor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40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Your Brand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5477256"/>
            <a:ext cx="4279392" cy="1645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31152" y="5440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715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Competitor 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5751576"/>
            <a:ext cx="3346704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98464" y="5715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61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989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Competitor 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6025896"/>
            <a:ext cx="2962656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14416" y="59893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PRODUCT · AI COMMAND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Ask any brand question.
Get a board-grade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1274552" cy="34747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12745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74552" cy="41148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Command Layer  ·  BrandPulse Intelligence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10725912" cy="64008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did our BHI drop 4 points last week?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BRANDPULSE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725912" cy="1280160"/>
          </a:xfrm>
          <a:prstGeom prst="rect">
            <a:avLst/>
          </a:prstGeom>
          <a:solidFill>
            <a:srgbClr val="0D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D2FE"/>
                </a:solidFill>
                <a:latin typeface="Calibri"/>
              </a:rPr>
              <a:t>Your Sentiment score fell from 79 → 71 following the Lagos activation on June 12th. Negative Pidgin-language posts spiked 340% — largely driven by slow queue management. Competitor B gained 2.1pp SOV during the same window. Recommend activating a WhatsApp broadcast to 4,200 advocates to reframe the narrative.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PRODUCT ·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All your data. One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4572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X (Twitter)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192024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95728" y="1920240"/>
            <a:ext cx="45720" cy="82296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Instagram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92024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920240"/>
            <a:ext cx="45720" cy="822960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GA4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92024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920240"/>
            <a:ext cx="45720" cy="822960"/>
          </a:xfrm>
          <a:prstGeom prst="rect">
            <a:avLst/>
          </a:prstGeom>
          <a:solidFill>
            <a:srgbClr val="00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Paystack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11312" y="192024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2" y="1920240"/>
            <a:ext cx="4572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Flutterwave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92024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49840" y="1920240"/>
            <a:ext cx="45720" cy="822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9568" y="2148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App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8036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880360"/>
            <a:ext cx="457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Google Play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95728" y="288036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95728" y="2880360"/>
            <a:ext cx="45720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05456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Google Maps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34256" y="288036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2880360"/>
            <a:ext cx="45720" cy="82296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4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Meta 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2784" y="288036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2784" y="2880360"/>
            <a:ext cx="45720" cy="8229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YouTube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11312" y="288036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2" y="2880360"/>
            <a:ext cx="457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G2 / Capterra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2880360"/>
            <a:ext cx="1828800" cy="8229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49840" y="2880360"/>
            <a:ext cx="45720" cy="822960"/>
          </a:xfrm>
          <a:prstGeom prst="rect">
            <a:avLst/>
          </a:prstGeom>
          <a:solidFill>
            <a:srgbClr val="FFE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59568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Mailchimp/Brevo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+ First-party data API  ·  Custom event ingestion  ·  OOH attribution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INDUSTRY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BHI recalibrates
automatically for your vertical.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55448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5544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Shelf presence + cultural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9696" y="2743200"/>
            <a:ext cx="155448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9696" y="2743200"/>
            <a:ext cx="1554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1136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36118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Trust + NPS + churn signals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2192" y="2743200"/>
            <a:ext cx="155448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22192" y="2743200"/>
            <a:ext cx="1554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2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Venue / Hospitality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36118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Foot traffic + reviews + vibe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743200"/>
            <a:ext cx="155448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4688" y="2743200"/>
            <a:ext cx="15544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96128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B2B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6118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G2/Capterra + pipeline health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7184" y="2743200"/>
            <a:ext cx="155448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87184" y="2743200"/>
            <a:ext cx="1554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36118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GMV signals + seller trust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743200"/>
            <a:ext cx="155448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2743200"/>
            <a:ext cx="15544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Beverage / Alcohol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118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Occasion resonance + OOH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52176" y="2743200"/>
            <a:ext cx="1554480" cy="22860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52176" y="2743200"/>
            <a:ext cx="1554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43616" y="2926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B2B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3616" y="36118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Dealer perception +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Early signal is strong.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Calibri"/>
              </a:rPr>
              <a:t>[X]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Beta users
on waitlist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0116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Calibri"/>
              </a:rPr>
              <a:t>[Y]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Brands actively
tracked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Calibri"/>
              </a:rPr>
              <a:t>[Z]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Consumer surveys
collected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011680"/>
            <a:ext cx="2743200" cy="256032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0116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Calibri"/>
              </a:rPr>
              <a:t>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337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Avg. weekly
active sessions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1274552" cy="100584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54864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46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"BrandPulse is the first tool that actually speaks our market. We can finally see
what consumers think about us in Pidgin, Yoruba, and Hausa — not just English."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77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— Beta Customer, Top-5 Nigerian FMCG Brand  [placeholder]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SaaS. Workspace-based.
Paystack-native.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3291840" cy="35661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329184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10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[Pricing TBD]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1 Brand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5 competitor 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Core BHI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91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Monthly AI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651760"/>
            <a:ext cx="3291840" cy="35661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651760"/>
            <a:ext cx="329184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834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10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[Pricing TBD]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3 Brand workspaces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96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Full competitor intel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439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AI Command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791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Influencer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138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Survey engine (500/mo)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651760"/>
            <a:ext cx="3291840" cy="356616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265176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834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10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[Pricing TBD]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749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Unlimited workspaces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96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All connectors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4439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Custom BHI weights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791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Field team + offline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38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Dedicated CSM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Billing activates post-beta via Paystack  ·  Annual plans at discount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Built by people who
know the African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651760" cy="292608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26517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2926080"/>
            <a:ext cx="1005840" cy="100584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26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F1"/>
                </a:solidFill>
                <a:latin typeface="Calibri"/>
              </a:rPr>
              <a:t>[Title / Role]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[Prior experience /
credential placeholder]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651760"/>
            <a:ext cx="2651760" cy="292608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651760"/>
            <a:ext cx="26517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2926080"/>
            <a:ext cx="1005840" cy="100584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31546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14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526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F1"/>
                </a:solidFill>
                <a:latin typeface="Calibri"/>
              </a:rPr>
              <a:t>[Title / Role]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[Prior experience /
credential placeholder]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2651760" cy="292608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51760"/>
            <a:ext cx="26517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926080"/>
            <a:ext cx="1005840" cy="100584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1546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114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[Name]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526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F1"/>
                </a:solidFill>
                <a:latin typeface="Calibri"/>
              </a:rPr>
              <a:t>[Title / Role]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[Prior experience /
credential placeholder]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2651760"/>
            <a:ext cx="2651760" cy="292608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651760"/>
            <a:ext cx="26517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21240" y="2926080"/>
            <a:ext cx="1005840" cy="1005840"/>
          </a:xfrm>
          <a:prstGeom prst="rect">
            <a:avLst/>
          </a:prstGeom>
          <a:solidFill>
            <a:srgbClr val="1E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31546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Photo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114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[Name]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526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F1"/>
                </a:solidFill>
                <a:latin typeface="Calibri"/>
              </a:rPr>
              <a:t>[Title / Role]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[Prior experience /
credential placeholder]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We are raising.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[$X] Seed / Pre-Series 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7180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RUNWAY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[Y months] of operating runway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93192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MILESTONE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[Z: e.g. 50 paying brands, Series A ready]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29200"/>
            <a:ext cx="11064240" cy="137160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029200"/>
            <a:ext cx="1106424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USE OF FUNDS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77840"/>
            <a:ext cx="82296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59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Product &amp; Engineering  [X%]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5577840"/>
            <a:ext cx="8229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5559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Sales &amp; Marketing  [X%]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577840"/>
            <a:ext cx="8229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559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Operations &amp; CS  [X%]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5577840"/>
            <a:ext cx="82296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5559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Working Capital  [X%]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27432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457200"/>
            <a:ext cx="1645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Join the waitlist.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7076" y="3017520"/>
            <a:ext cx="4114800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366F1"/>
                </a:solidFill>
                <a:latin typeface="Calibri"/>
              </a:rPr>
              <a:t>brandpulse.ai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The Brand Intelligence Platform Built for Africa.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adebusuyiadejobi@gmail.com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BrandPulse AI  ·  Confidential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366F1"/>
                </a:solidFill>
                <a:latin typeface="Calibri"/>
              </a:rPr>
              <a:t>brandpulse.ai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31752" y="6537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